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B2A4A"/>
                </a:solidFill>
                <a:latin typeface="Arial"/>
              </a:rPr>
              <a:t>Stock-Out Days by Region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Stock-Out Days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Asia-Pac</c:v>
                </c:pt>
                <c:pt idx="1">
                  <c:v>Africa</c:v>
                </c:pt>
                <c:pt idx="2">
                  <c:v>Europe</c:v>
                </c:pt>
                <c:pt idx="3">
                  <c:v>S. America</c:v>
                </c:pt>
                <c:pt idx="4">
                  <c:v>M. East</c:v>
                </c:pt>
                <c:pt idx="5">
                  <c:v>N. America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</c:v>
                </c:pt>
                <c:pt idx="1">
                  <c:v>29</c:v>
                </c:pt>
                <c:pt idx="2">
                  <c:v>28</c:v>
                </c:pt>
                <c:pt idx="3">
                  <c:v>21</c:v>
                </c:pt>
                <c:pt idx="4">
                  <c:v>13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27-4CA4-B854-C000416B11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Revenue by Region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Africa</c:v>
                </c:pt>
                <c:pt idx="1">
                  <c:v>Europe</c:v>
                </c:pt>
                <c:pt idx="2">
                  <c:v>Asia-Pac</c:v>
                </c:pt>
                <c:pt idx="3">
                  <c:v>S. America</c:v>
                </c:pt>
                <c:pt idx="4">
                  <c:v>M. East</c:v>
                </c:pt>
                <c:pt idx="5">
                  <c:v>N. America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1188064</c:v>
                </c:pt>
                <c:pt idx="1">
                  <c:v>919872</c:v>
                </c:pt>
                <c:pt idx="2">
                  <c:v>818156</c:v>
                </c:pt>
                <c:pt idx="3">
                  <c:v>624752</c:v>
                </c:pt>
                <c:pt idx="4">
                  <c:v>296274</c:v>
                </c:pt>
                <c:pt idx="5">
                  <c:v>219997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1C-4E18-A975-7BB1487361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4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A4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Profit Margin % by Region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M. East</c:v>
                </c:pt>
                <c:pt idx="1">
                  <c:v>N. America</c:v>
                </c:pt>
                <c:pt idx="2">
                  <c:v>Asia-Pac</c:v>
                </c:pt>
                <c:pt idx="3">
                  <c:v>Africa</c:v>
                </c:pt>
                <c:pt idx="4">
                  <c:v>S. America</c:v>
                </c:pt>
                <c:pt idx="5">
                  <c:v>Europe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49.45</c:v>
                </c:pt>
                <c:pt idx="1">
                  <c:v>43.28</c:v>
                </c:pt>
                <c:pt idx="2">
                  <c:v>39.729999999999997</c:v>
                </c:pt>
                <c:pt idx="3">
                  <c:v>37.86</c:v>
                </c:pt>
                <c:pt idx="4">
                  <c:v>33.28</c:v>
                </c:pt>
                <c:pt idx="5">
                  <c:v>31.2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C5-47C7-9460-DB29133899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4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A4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844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NovaPharma Global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Case Study </a:t>
            </a:r>
            <a:r>
              <a:rPr lang="en-US" sz="2200" b="1" dirty="0" smtClean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001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Sales, Marketing &amp; Supply Chain Data Into Business Action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CHISOM PRECIOUS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</a:t>
            </a:r>
            <a:r>
              <a:rPr lang="en-US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Pod 4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r>
              <a:rPr lang="en-US" sz="1400" baseline="300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the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F7E3E1"/>
          </a:solidFill>
          <a:ln w="12700">
            <a:solidFill>
              <a:srgbClr val="8A2C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00200"/>
            <a:ext cx="10424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8A2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Fact_Sales table currently loaded in the dashboard contains 39 transaction records.
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A2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This is smaller than the full 5,015-row source dataset, most likely due to a filter or duplicate-removal step in Power Query. Every figure in this presentation is drawn directly from the live dashboard, so it matches exactly what is shown on screen today.
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A2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500" b="1" dirty="0">
                <a:solidFill>
                  <a:srgbClr val="8A2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28 of 40 sales reps  •  25 of 35 products  •  39 of 700 customers represented.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below are safe to present as-is; the sample size should simply be disclosed if asked.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NovaPharma Global — Case 001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NovaPharma Global is a pharmaceutical company operating across 25 countries. Revenue has grown, but leadership flagged falling profitability, regional underperformance, inventory shortages, and possible revenue leakage as open concerns.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146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Questions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3774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25146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37560" y="32004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5146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32004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Built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23774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25146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915400" y="32004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Business Questions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— growth &amp; investment focus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— leakage &amp; margin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 — customer &amp; channel value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— campaign ROI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CSCO — stock-outs &amp; supply chain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4160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457200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impact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NovaPharma Global — Case 001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Data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115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— source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— cleaning &amp; validation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— modeling &amp; dashboard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— measure </a:t>
            </a:r>
            <a:r>
              <a:rPr lang="en-US" sz="16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09360" y="1234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Model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63840" y="19202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19202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301752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30175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635240" y="301752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30175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961120" y="301752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0" y="30175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287000" y="301752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10287000" y="30175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Dim_Region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37947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7947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Dim_SalesRep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35240" y="37947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37947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Dim_Channel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61120" y="37947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0" y="37947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Dim_Market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287000" y="37947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10287000" y="37947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Highlights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8640" y="470916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missing values in Fact_Sales (Discount, Rebate → 0; LeadTimeDays → column average)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no duplicates or inconsistent text across all 9 tables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data types where the source dictionary did not match the actual data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NovaPharma Global — Case 001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618524"/>
              </p:ext>
            </p:extLst>
          </p:nvPr>
        </p:nvGraphicFramePr>
        <p:xfrm>
          <a:off x="548640" y="1280160"/>
          <a:ext cx="11064240" cy="3980688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SUM(Fact_Sales[Revenue])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revenue figure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Margin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DIVIDE([Total Profit],[Total Revenue],0)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Profitability rate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Leakage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DIVIDE([Discount]+[Rebate],[Revenue],0)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— leakage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Achievement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DIVIDE([Total Revenue],[Target Revenue],0)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vs. plan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StockOut Days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SUM(Fact_Sales[StockOutDays])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CSCO — supply reliability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ROI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DIVIDE([Revenue]-[Spend],[Spend],0)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CMO — campaign efficiency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NovaPharma Global — Case 001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— CEO &amp; CFO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4F1E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&amp; markets drive growth?</a:t>
            </a:r>
            <a:endParaRPr lang="en-US" sz="1600" b="1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4,067,116 | 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~96.6%
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(1,188,064)
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4 (474,162)
Europe is the 2nd-highest revenue region but the weakest on margin (31.2%) — invest in fixing efficiency there before chasing more volume.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4F1E8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revenue leakage occurring</a:t>
            </a:r>
            <a:r>
              <a:rPr lang="en-US" sz="16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b="1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0.24% of revenue (negligible)
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37.16%
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Weakest-margin region: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(31.2%)
The real gap is against target (~0.11% revenue achievement), not discounting — a target-setting issue, not an execution failure.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NovaPharma Global — Case 001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— CCO &amp; CMO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27909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4F1E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Commercial Officer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reps &amp; channels create the most value?</a:t>
            </a:r>
            <a:endParaRPr lang="en-US" sz="1600" b="1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25: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482,273 revenue, 39.7% margin (top, efficient)
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4: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393,954 revenue, 28.2% margin (high rev, weak margin)
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19: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margin of any rep (53.9%)
Retail Pharmacy: top channel revenue, but weakest channel margin (31.7%).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4F1E8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Marketing Officer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campaigns deliver the highest ROI?</a:t>
            </a:r>
            <a:endParaRPr lang="en-US" sz="1600" b="1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16: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ROI at 20.5x (spend: 15,166)
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11: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-0.93x ROI, losing money (spend: 167,897)
</a:t>
            </a: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12: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-0.92x ROI, losing money (spend: 178,572)
Total marketing spend: 2,237,127 across 20 campaigns.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NovaPharma Global — Case 001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 — Chief Supply Chain Officer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experience stock shortages, and how do they affect revenue</a:t>
            </a: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loaded transactions touch stock-out activity
</a:t>
            </a: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3,658,706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revenue tied to affected transactions
</a:t>
            </a: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31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most stock-out days (18)</a:t>
            </a:r>
            <a:endParaRPr lang="en-US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669280" y="1600200"/>
          <a:ext cx="59436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NovaPharma Global — Case 001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Europe: Strong Revenue, Weakest Margin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920240"/>
          <a:ext cx="5760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400800" y="192024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NovaPharma Global — Case 001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09728" cy="822960"/>
          </a:xfrm>
          <a:prstGeom prst="round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258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Europe: High Revenue, Weakest Margin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2nd-highest region by revenue, but lowest margin (31.2%) of all six regions.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09728" cy="822960"/>
          </a:xfrm>
          <a:prstGeom prst="round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Gap Is a Planning Issue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is ~96.6%; the shortfall against target points to target-setting, not execution.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09728" cy="822960"/>
          </a:xfrm>
          <a:prstGeom prst="round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46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Doesn't Guarantee Margin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4 matches top-tier revenue at a much weaker margin than Rep 25 or Rep 19.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09728" cy="822960"/>
          </a:xfrm>
          <a:prstGeom prst="round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062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Stock-Outs Are Widespread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572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loaded transactions are touched by stock-out activity — a systemic issue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109728" cy="822960"/>
          </a:xfrm>
          <a:prstGeom prst="round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663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Campaigns Losing Money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5532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11 &amp; 12 post negative ROI despite large spend; Campaign 16 returns 20.5x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NovaPharma Global — Case 001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39112" cy="2834640"/>
          </a:xfrm>
          <a:prstGeom prst="roundRect">
            <a:avLst>
              <a:gd name="adj" fmla="val 3587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176479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Europe for margin improvement; review how targets were set.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24912" y="1463040"/>
            <a:ext cx="2039112" cy="2834640"/>
          </a:xfrm>
          <a:prstGeom prst="roundRect">
            <a:avLst>
              <a:gd name="adj" fmla="val 3587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2724912" y="164592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62072" y="2194560"/>
            <a:ext cx="176479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targets to the company's own (accurate) forecasting process.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01184" y="1463040"/>
            <a:ext cx="2039112" cy="2834640"/>
          </a:xfrm>
          <a:prstGeom prst="roundRect">
            <a:avLst>
              <a:gd name="adj" fmla="val 3587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901184" y="164592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38344" y="2194560"/>
            <a:ext cx="176479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Rep 25 &amp; Rep 19 as coaching models; set margin thresholds in reviews.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77456" y="1463040"/>
            <a:ext cx="2039112" cy="2834640"/>
          </a:xfrm>
          <a:prstGeom prst="roundRect">
            <a:avLst>
              <a:gd name="adj" fmla="val 3587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077456" y="164592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14616" y="2194560"/>
            <a:ext cx="176479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Product 31 and Asia-Pacific for supply chain intervention.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253728" y="1463040"/>
            <a:ext cx="2039112" cy="2834640"/>
          </a:xfrm>
          <a:prstGeom prst="roundRect">
            <a:avLst>
              <a:gd name="adj" fmla="val 3587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9253728" y="164592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90888" y="2194560"/>
            <a:ext cx="176479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spend from Campaigns 11 &amp; 12 toward Campaign 16.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NovaPharma Global — Case 001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NovaPharma Global — Business Intelligence Case Study — Case 001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1000</Words>
  <Application>Microsoft Office PowerPoint</Application>
  <PresentationFormat>Widescreen</PresentationFormat>
  <Paragraphs>152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4</cp:revision>
  <dcterms:created xsi:type="dcterms:W3CDTF">2026-08-22T12:42:27Z</dcterms:created>
  <dcterms:modified xsi:type="dcterms:W3CDTF">2026-08-28T14:02:00Z</dcterms:modified>
</cp:coreProperties>
</file>